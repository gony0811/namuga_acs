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6"/>
    <p:sldId id="266" r:id="rId18"/>
    <p:sldId id="265" r:id="rId17"/>
    <p:sldId id="263" r:id="rId9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72815"/>
    <a:srgbClr val="C13538"/>
    <a:srgbClr val="A7D3FF"/>
    <a:srgbClr val="C6E0B4"/>
    <a:srgbClr val="C9E4FF"/>
    <a:srgbClr val="D7B1DD"/>
    <a:srgbClr val="792123"/>
    <a:srgbClr val="946A38"/>
    <a:srgbClr val="532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1" autoAdjust="0"/>
    <p:restoredTop sz="94660"/>
  </p:normalViewPr>
  <p:slideViewPr>
    <p:cSldViewPr showGuides="1">
      <p:cViewPr varScale="1">
        <p:scale>
          <a:sx n="120" d="100"/>
          <a:sy n="120" d="100"/>
        </p:scale>
        <p:origin x="1704" y="19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5028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3BA2C-ED35-4F72-B469-0C7597F3D214}" type="datetimeFigureOut">
              <a:rPr lang="ko-KR" altLang="en-US" smtClean="0"/>
              <a:t>2026. 7. 22.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FA4FB-C9D0-4226-89F0-2C65BAB01B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990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9822B-9FBB-4F9A-B0DD-39EF4D5B1653}" type="datetimeFigureOut">
              <a:rPr lang="ko-KR" altLang="en-US" smtClean="0"/>
              <a:t>2026. 7. 21.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9539A-A4CB-4789-A1D5-0941E3DC2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08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9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" y="2403141"/>
            <a:ext cx="200125" cy="2051718"/>
          </a:xfrm>
          <a:prstGeom prst="rect">
            <a:avLst/>
          </a:prstGeom>
          <a:solidFill>
            <a:srgbClr val="891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8" name="TextBox 7"/>
          <p:cNvSpPr txBox="1"/>
          <p:nvPr userDrawn="1"/>
        </p:nvSpPr>
        <p:spPr>
          <a:xfrm rot="5400000">
            <a:off x="-694767" y="3266103"/>
            <a:ext cx="2123210" cy="325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17" b="1">
                <a:solidFill>
                  <a:srgbClr val="891E3A"/>
                </a:solidFill>
              </a:rPr>
              <a:t>www.innorobotics.co.kr</a:t>
            </a:r>
            <a:endParaRPr lang="ko-KR" altLang="en-US" sz="1517" b="1">
              <a:solidFill>
                <a:srgbClr val="891E3A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01757" y="4867777"/>
            <a:ext cx="2502486" cy="793471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3552713" y="5661248"/>
            <a:ext cx="280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Under Promise Over Deliver</a:t>
            </a:r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5582929" y="6550223"/>
            <a:ext cx="4410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Copyright@INNOROBOTICS Inc. 2026. All Rights Reserved.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8724820" y="83179"/>
            <a:ext cx="1073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306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/>
          <p:cNvCxnSpPr/>
          <p:nvPr userDrawn="1"/>
        </p:nvCxnSpPr>
        <p:spPr>
          <a:xfrm flipV="1">
            <a:off x="83662" y="810332"/>
            <a:ext cx="9701996" cy="2731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텍스트 개체 틀 32"/>
          <p:cNvSpPr>
            <a:spLocks noGrp="1"/>
          </p:cNvSpPr>
          <p:nvPr>
            <p:ph type="body" sz="quarter" idx="12" hasCustomPrompt="1"/>
          </p:nvPr>
        </p:nvSpPr>
        <p:spPr>
          <a:xfrm>
            <a:off x="1119537" y="192855"/>
            <a:ext cx="603050" cy="2423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lvl1pPr marL="0" indent="0">
              <a:buNone/>
              <a:defRPr lang="ko-KR" altLang="en-US" sz="1083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lvl="0"/>
            <a:r>
              <a:rPr lang="ko-KR" altLang="en-US"/>
              <a:t>소제목</a:t>
            </a:r>
          </a:p>
        </p:txBody>
      </p:sp>
      <p:sp>
        <p:nvSpPr>
          <p:cNvPr id="35" name="내용 개체 틀 34"/>
          <p:cNvSpPr>
            <a:spLocks noGrp="1"/>
          </p:cNvSpPr>
          <p:nvPr>
            <p:ph sz="quarter" idx="13" hasCustomPrompt="1"/>
          </p:nvPr>
        </p:nvSpPr>
        <p:spPr>
          <a:xfrm>
            <a:off x="664679" y="1164762"/>
            <a:ext cx="8578321" cy="5400000"/>
          </a:xfrm>
          <a:prstGeom prst="rect">
            <a:avLst/>
          </a:prstGeom>
        </p:spPr>
        <p:txBody>
          <a:bodyPr/>
          <a:lstStyle>
            <a:lvl1pPr>
              <a:defRPr sz="2167" b="1"/>
            </a:lvl1pPr>
            <a:lvl2pPr>
              <a:defRPr sz="1950" b="1"/>
            </a:lvl2pPr>
            <a:lvl3pPr>
              <a:defRPr sz="1733" b="1"/>
            </a:lvl3pPr>
            <a:lvl4pPr>
              <a:defRPr sz="1517" b="1"/>
            </a:lvl4pPr>
            <a:lvl5pPr>
              <a:defRPr sz="1517" b="1"/>
            </a:lvl5pPr>
          </a:lstStyle>
          <a:p>
            <a:pPr lvl="0"/>
            <a:r>
              <a:rPr lang="ko-KR" altLang="en-US"/>
              <a:t>본문 작성</a:t>
            </a:r>
          </a:p>
        </p:txBody>
      </p:sp>
      <p:pic>
        <p:nvPicPr>
          <p:cNvPr id="36" name="그림 35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5014" y1="26923" x2="13686" y2="7265"/>
                        <a14:foregroundMark x1="15312" y1="7265" x2="25474" y2="25641"/>
                        <a14:foregroundMark x1="25474" y1="26923" x2="25474" y2="70940"/>
                        <a14:foregroundMark x1="25474" y1="70940" x2="22222" y2="77350"/>
                        <a14:foregroundMark x1="2981" y1="31197" x2="3388" y2="70940"/>
                        <a14:foregroundMark x1="12466" y1="46154" x2="16667" y2="57692"/>
                        <a14:foregroundMark x1="11518" y1="85470" x2="15312" y2="92308"/>
                        <a14:foregroundMark x1="11789" y1="44017" x2="16667" y2="40171"/>
                        <a14:foregroundMark x1="17615" y1="42308" x2="13144" y2="61538"/>
                        <a14:foregroundMark x1="11518" y1="82051" x2="18293" y2="91453"/>
                        <a14:foregroundMark x1="36585" y1="18376" x2="36179" y2="61966"/>
                        <a14:foregroundMark x1="45935" y1="61966" x2="45393" y2="16667"/>
                        <a14:foregroundMark x1="87263" y1="18376" x2="82791" y2="32906"/>
                        <a14:foregroundMark x1="34959" y1="78205" x2="35772" y2="87179"/>
                        <a14:foregroundMark x1="47832" y1="82479" x2="47832" y2="82479"/>
                        <a14:foregroundMark x1="54336" y1="82479" x2="54336" y2="82479"/>
                        <a14:foregroundMark x1="66531" y1="82479" x2="66531" y2="82479"/>
                        <a14:foregroundMark x1="72358" y1="81197" x2="72358" y2="81197"/>
                        <a14:foregroundMark x1="79539" y1="79060" x2="79539" y2="79060"/>
                        <a14:foregroundMark x1="89295" y1="79487" x2="89295" y2="79487"/>
                        <a14:foregroundMark x1="97290" y1="87179" x2="97290" y2="87179"/>
                        <a14:backgroundMark x1="36450" y1="80342" x2="36450" y2="80342"/>
                        <a14:backgroundMark x1="54878" y1="86752" x2="54878" y2="86752"/>
                        <a14:backgroundMark x1="54878" y1="77778" x2="54878" y2="7777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6695" y="413891"/>
            <a:ext cx="1143541" cy="334695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9789537" y="4722112"/>
            <a:ext cx="116463" cy="1473481"/>
          </a:xfrm>
          <a:prstGeom prst="rect">
            <a:avLst/>
          </a:prstGeom>
          <a:solidFill>
            <a:srgbClr val="891E3A"/>
          </a:solidFill>
          <a:ln>
            <a:solidFill>
              <a:srgbClr val="891E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13" name="TextBox 12"/>
          <p:cNvSpPr txBox="1"/>
          <p:nvPr userDrawn="1"/>
        </p:nvSpPr>
        <p:spPr>
          <a:xfrm rot="16200000">
            <a:off x="8864123" y="5329361"/>
            <a:ext cx="1584088" cy="25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3" b="1">
                <a:solidFill>
                  <a:srgbClr val="891E3A"/>
                </a:solidFill>
              </a:rPr>
              <a:t>www.innorobotics.co.kr</a:t>
            </a:r>
            <a:endParaRPr lang="ko-KR" altLang="en-US" sz="1083" b="1">
              <a:solidFill>
                <a:srgbClr val="891E3A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722303" y="6233"/>
            <a:ext cx="1073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8155927" y="161083"/>
            <a:ext cx="1674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Perfect</a:t>
            </a:r>
            <a:r>
              <a:rPr lang="en-US" altLang="ko-KR" sz="1400" baseline="0" dirty="0">
                <a:solidFill>
                  <a:schemeClr val="bg1">
                    <a:lumMod val="50000"/>
                  </a:schemeClr>
                </a:solidFill>
              </a:rPr>
              <a:t> No.1 Partner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4"/>
          </p:nvPr>
        </p:nvSpPr>
        <p:spPr>
          <a:xfrm>
            <a:off x="7264400" y="6356351"/>
            <a:ext cx="2311400" cy="365125"/>
          </a:xfrm>
        </p:spPr>
        <p:txBody>
          <a:bodyPr/>
          <a:lstStyle/>
          <a:p>
            <a:fld id="{869D38BF-033B-430D-8161-2CB3A99929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2945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07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6" r:id="rId2"/>
    <p:sldLayoutId id="2147483688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4519" y="1005840"/>
            <a:ext cx="6172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74519" y="1207008"/>
            <a:ext cx="6172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1A1A1A"/>
                </a:solidFill>
                <a:latin typeface="맑은 고딕"/>
                <a:ea typeface="맑은 고딕"/>
              </a:rPr>
              <a:t>EXCHANGE AMR 슬롯 운영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1755648"/>
            <a:ext cx="6172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666B74"/>
                </a:solidFill>
                <a:latin typeface="맑은 고딕"/>
                <a:ea typeface="맑은 고딕"/>
              </a:rPr>
              <a:t>EXCHANGECMD</a:t>
            </a:r>
            <a:r>
              <a:rPr lang="ko-KR" altLang="en-US" sz="1200" b="0" i="0" dirty="0">
                <a:solidFill>
                  <a:srgbClr val="666B74"/>
                </a:solidFill>
                <a:latin typeface="맑은 고딕"/>
                <a:ea typeface="맑은 고딕"/>
              </a:rPr>
              <a:t> </a:t>
            </a:r>
            <a:r>
              <a:rPr sz="1200" b="0" i="0" dirty="0">
                <a:solidFill>
                  <a:srgbClr val="666B74"/>
                </a:solidFill>
                <a:latin typeface="맑은 고딕"/>
                <a:ea typeface="맑은 고딕"/>
              </a:rPr>
              <a:t>— </a:t>
            </a:r>
            <a:r>
              <a:rPr sz="120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슬롯</a:t>
            </a:r>
            <a:r>
              <a:rPr sz="1200" b="0" i="0" dirty="0">
                <a:solidFill>
                  <a:srgbClr val="666B74"/>
                </a:solidFill>
                <a:latin typeface="맑은 고딕"/>
                <a:ea typeface="맑은 고딕"/>
              </a:rPr>
              <a:t> 1·2·3·4</a:t>
            </a:r>
            <a:r>
              <a:rPr lang="ko-KR" altLang="en-US" sz="1200" b="0" i="0" dirty="0">
                <a:solidFill>
                  <a:srgbClr val="666B74"/>
                </a:solidFill>
                <a:latin typeface="맑은 고딕"/>
                <a:ea typeface="맑은 고딕"/>
              </a:rPr>
              <a:t> 운영</a:t>
            </a:r>
            <a:endParaRPr sz="1200" b="0" i="0" dirty="0">
              <a:solidFill>
                <a:srgbClr val="666B74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2212848"/>
            <a:ext cx="6172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1A1A1A"/>
                </a:solidFill>
                <a:latin typeface="맑은 고딕"/>
                <a:ea typeface="맑은 고딕"/>
              </a:rPr>
              <a:t>2026. 07. 20  ·  </a:t>
            </a:r>
            <a:r>
              <a:rPr sz="120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초안</a:t>
            </a:r>
            <a:endParaRPr sz="1200" b="1" i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03904" y="3200400"/>
            <a:ext cx="512064" cy="512064"/>
          </a:xfrm>
          <a:prstGeom prst="roundRect">
            <a:avLst>
              <a:gd name="adj" fmla="val 1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3200400"/>
            <a:ext cx="512064" cy="512064"/>
          </a:xfrm>
          <a:prstGeom prst="roundRect">
            <a:avLst>
              <a:gd name="adj" fmla="val 1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2624" y="3200400"/>
            <a:ext cx="512064" cy="512064"/>
          </a:xfrm>
          <a:prstGeom prst="roundRect">
            <a:avLst>
              <a:gd name="adj" fmla="val 14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6984" y="3200400"/>
            <a:ext cx="512064" cy="512064"/>
          </a:xfrm>
          <a:prstGeom prst="roundRect">
            <a:avLst>
              <a:gd name="adj" fmla="val 14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4" y="3803904"/>
            <a:ext cx="1289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2E75B6"/>
                </a:solidFill>
                <a:latin typeface="맑은 고딕"/>
                <a:ea typeface="맑은 고딕"/>
              </a:rPr>
              <a:t>투입 (NEW)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4" y="3803904"/>
            <a:ext cx="1289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891E3A"/>
                </a:solidFill>
                <a:latin typeface="맑은 고딕"/>
                <a:ea typeface="맑은 고딕"/>
              </a:rPr>
              <a:t>회수 (OLD)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37744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맑은 고딕"/>
                <a:ea typeface="맑은 고딕"/>
              </a:rPr>
              <a:t>슬롯 구성과 역할 — 가로 일렬 4슬롯, 역할 고정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914400"/>
            <a:ext cx="92354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AMR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상면에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슬롯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1→4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가로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일렬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배치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· 1·2 =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투입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전용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, 3·4 =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회수</a:t>
            </a:r>
            <a:r>
              <a:rPr lang="ko-KR" altLang="en-US" sz="1050" dirty="0">
                <a:solidFill>
                  <a:srgbClr val="666B74"/>
                </a:solidFill>
                <a:latin typeface="맑은 고딕"/>
                <a:ea typeface="맑은 고딕"/>
              </a:rPr>
              <a:t>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전용</a:t>
            </a:r>
            <a:endParaRPr sz="1050" b="0" i="0" dirty="0">
              <a:solidFill>
                <a:srgbClr val="666B74"/>
              </a:solidFill>
              <a:latin typeface="맑은 고딕"/>
              <a:ea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8778240" cy="19202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맑은 고딕"/>
                <a:ea typeface="맑은 고딕"/>
              </a:rPr>
              <a:t>AMR 상면 (Top View)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1783080"/>
            <a:ext cx="1371600" cy="86868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856231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INSERT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783080"/>
            <a:ext cx="1371600" cy="86868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8648" y="1856231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3317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1783080"/>
            <a:ext cx="1371600" cy="868680"/>
          </a:xfrm>
          <a:prstGeom prst="roundRect">
            <a:avLst>
              <a:gd name="adj" fmla="val 10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65776" y="1856231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23317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RETRIEVE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21424" y="1783080"/>
            <a:ext cx="1371600" cy="868680"/>
          </a:xfrm>
          <a:prstGeom prst="roundRect">
            <a:avLst>
              <a:gd name="adj" fmla="val 10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424" y="1856231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23317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34015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2E75B6"/>
                </a:solidFill>
                <a:latin typeface="맑은 고딕"/>
                <a:ea typeface="맑은 고딕"/>
              </a:rPr>
              <a:t>◀ 투입 슬롯 — 신규(NEW) 매거진 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8616" y="2743200"/>
            <a:ext cx="34015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891E3A"/>
                </a:solidFill>
                <a:latin typeface="맑은 고딕"/>
                <a:ea typeface="맑은 고딕"/>
              </a:rPr>
              <a:t>◀ 회수 슬롯 — 기존(OLD) 매거진 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11880"/>
            <a:ext cx="2880360" cy="173736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3794760"/>
            <a:ext cx="237744" cy="2377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0704" y="3776472"/>
            <a:ext cx="2286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슬롯</a:t>
            </a:r>
            <a:r>
              <a:rPr sz="1250" b="1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lang="ko-KR" altLang="en-US" sz="1250" b="1" i="0" dirty="0">
                <a:solidFill>
                  <a:srgbClr val="1A1A1A"/>
                </a:solidFill>
                <a:latin typeface="맑은 고딕"/>
                <a:ea typeface="맑은 고딕"/>
              </a:rPr>
              <a:t>활용</a:t>
            </a:r>
            <a:r>
              <a:rPr sz="1250" b="1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25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규칙</a:t>
            </a:r>
            <a:endParaRPr sz="1250" b="1" i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808" y="420624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1 EXCHANGE = 투입 1칸 + 회수 1칸 페어.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교환 A = (1, 3)  ·  교환 B = (2, 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3611880"/>
            <a:ext cx="2880360" cy="173736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794760" y="3794760"/>
            <a:ext cx="237744" cy="237744"/>
          </a:xfrm>
          <a:prstGeom prst="ellipse">
            <a:avLst/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23944" y="3776472"/>
            <a:ext cx="2286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역할</a:t>
            </a:r>
            <a:r>
              <a:rPr sz="1250" b="1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lang="ko-KR" altLang="en-US" sz="1250" b="1" dirty="0">
                <a:solidFill>
                  <a:srgbClr val="1A1A1A"/>
                </a:solidFill>
                <a:latin typeface="맑은 고딕"/>
                <a:ea typeface="맑은 고딕"/>
              </a:rPr>
              <a:t>제한</a:t>
            </a:r>
            <a:endParaRPr sz="1250" b="1" i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13048" y="420624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투입슬롯에 OLD, 회수슬롯에 NEW 적재 금지.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Cobot DI 는 슬롯 번호에 선형 대응 (amrSlot−1)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611880"/>
            <a:ext cx="2880360" cy="173736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858000" y="3794760"/>
            <a:ext cx="237744" cy="23774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87183" y="3776472"/>
            <a:ext cx="2286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상태</a:t>
            </a:r>
            <a:r>
              <a:rPr sz="1250" b="1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lang="ko-KR" altLang="en-US" sz="1250" b="1" i="0" dirty="0">
                <a:solidFill>
                  <a:srgbClr val="1A1A1A"/>
                </a:solidFill>
                <a:latin typeface="맑은 고딕"/>
                <a:ea typeface="맑은 고딕"/>
              </a:rPr>
              <a:t>전이</a:t>
            </a:r>
            <a:endParaRPr sz="1250" b="1" i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76288" y="4206240"/>
            <a:ext cx="2514600" cy="337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1A1A1A"/>
                </a:solidFill>
                <a:latin typeface="맑은 고딕"/>
                <a:ea typeface="맑은 고딕"/>
              </a:rPr>
              <a:t>VEHICLE_SLOT: EMPTY↔OCCUPIED,</a:t>
            </a:r>
          </a:p>
          <a:p>
            <a:pPr algn="l">
              <a:lnSpc>
                <a:spcPct val="115000"/>
              </a:lnSpc>
            </a:pPr>
            <a:r>
              <a:rPr lang="ko-KR" altLang="en-US" sz="1000" b="0" i="0" dirty="0">
                <a:solidFill>
                  <a:srgbClr val="1A1A1A"/>
                </a:solidFill>
                <a:latin typeface="맑은 고딕"/>
                <a:ea typeface="맑은 고딕"/>
              </a:rPr>
              <a:t>각 슬롯별 </a:t>
            </a:r>
            <a:r>
              <a:rPr sz="10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JobID</a:t>
            </a:r>
            <a:r>
              <a:rPr lang="ko-KR" altLang="en-US" sz="1000" dirty="0">
                <a:solidFill>
                  <a:srgbClr val="1A1A1A"/>
                </a:solidFill>
                <a:latin typeface="맑은 고딕"/>
                <a:ea typeface="맑은 고딕"/>
              </a:rPr>
              <a:t> 및</a:t>
            </a:r>
            <a:r>
              <a:rPr lang="ko-KR" altLang="en-US" sz="1000" b="0" i="0" dirty="0">
                <a:solidFill>
                  <a:srgbClr val="1A1A1A"/>
                </a:solidFill>
                <a:latin typeface="맑은 고딕"/>
                <a:ea typeface="맑은 고딕"/>
              </a:rPr>
              <a:t> 현재 상태</a:t>
            </a:r>
            <a:r>
              <a:rPr sz="10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기록</a:t>
            </a:r>
            <a:endParaRPr sz="1000" b="0" i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37744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맑은 고딕"/>
                <a:ea typeface="맑은 고딕"/>
              </a:rPr>
              <a:t>슬롯 상태 모델과 배차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■ 슬롯 상태 표기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3271" y="164592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80744" y="164592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728216" y="164592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80" y="167335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EMPTY (빈 슬롯)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E75B6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214884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80744" y="214884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28216" y="214884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0280" y="217627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예약 — 배차 시 JobID 기록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5176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1" y="265176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80744" y="265176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28216" y="265176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40280" y="267919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NEW 점유 (신규 매거진)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1" y="315468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380744" y="315468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728216" y="3154680"/>
            <a:ext cx="301752" cy="30175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40280" y="318211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OLD 점유 (기존 매거진)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1234440"/>
            <a:ext cx="4206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A1A1A"/>
                </a:solidFill>
                <a:latin typeface="맑은 고딕"/>
                <a:ea typeface="맑은 고딕"/>
              </a:rPr>
              <a:t>■ EXCHANGE </a:t>
            </a:r>
            <a:r>
              <a:rPr sz="130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배차</a:t>
            </a:r>
            <a:r>
              <a:rPr sz="1300" b="1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30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조건</a:t>
            </a:r>
            <a:r>
              <a:rPr sz="1300" b="1" i="0" dirty="0">
                <a:solidFill>
                  <a:srgbClr val="1A1A1A"/>
                </a:solidFill>
                <a:latin typeface="맑은 고딕"/>
                <a:ea typeface="맑은 고딕"/>
              </a:rPr>
              <a:t> (</a:t>
            </a:r>
            <a:r>
              <a:rPr lang="ko-KR" altLang="en-US" sz="1300" b="1" i="0" dirty="0">
                <a:solidFill>
                  <a:srgbClr val="1A1A1A"/>
                </a:solidFill>
                <a:latin typeface="맑은 고딕"/>
                <a:ea typeface="맑은 고딕"/>
              </a:rPr>
              <a:t>스케줄링 트리거</a:t>
            </a:r>
            <a:r>
              <a:rPr lang="en-US" altLang="ko-KR" sz="1300" b="1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lang="ko-KR" altLang="en-US" sz="1300" b="1" dirty="0">
                <a:solidFill>
                  <a:srgbClr val="1A1A1A"/>
                </a:solidFill>
                <a:latin typeface="맑은 고딕"/>
                <a:ea typeface="맑은 고딕"/>
              </a:rPr>
              <a:t>발생시</a:t>
            </a:r>
            <a:r>
              <a:rPr sz="1300" b="1" i="0" dirty="0">
                <a:solidFill>
                  <a:srgbClr val="1A1A1A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26" name="Oval 25"/>
          <p:cNvSpPr/>
          <p:nvPr/>
        </p:nvSpPr>
        <p:spPr>
          <a:xfrm>
            <a:off x="5394960" y="1645920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1682496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A1A1A"/>
                </a:solidFill>
                <a:latin typeface="맑은 고딕"/>
                <a:ea typeface="맑은 고딕"/>
              </a:rPr>
              <a:t>IDLE + CONNECT, 기존 작업 없음</a:t>
            </a:r>
          </a:p>
        </p:txBody>
      </p:sp>
      <p:sp>
        <p:nvSpPr>
          <p:cNvPr id="28" name="Oval 27"/>
          <p:cNvSpPr/>
          <p:nvPr/>
        </p:nvSpPr>
        <p:spPr>
          <a:xfrm>
            <a:off x="5394960" y="2148840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872" y="2185416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슬롯</a:t>
            </a:r>
            <a:r>
              <a:rPr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 4칸 </a:t>
            </a:r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전부</a:t>
            </a:r>
            <a:r>
              <a:rPr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 EMPTY (</a:t>
            </a:r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부분</a:t>
            </a:r>
            <a:r>
              <a:rPr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점유</a:t>
            </a:r>
            <a:r>
              <a:rPr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차량</a:t>
            </a:r>
            <a:r>
              <a:rPr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배제</a:t>
            </a:r>
            <a:r>
              <a:rPr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" name="Oval 29"/>
          <p:cNvSpPr/>
          <p:nvPr/>
        </p:nvSpPr>
        <p:spPr>
          <a:xfrm>
            <a:off x="5394960" y="2651760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3872" y="2688336"/>
            <a:ext cx="3749039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같은</a:t>
            </a:r>
            <a:r>
              <a:rPr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 Bay + </a:t>
            </a:r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첫</a:t>
            </a:r>
            <a:r>
              <a:rPr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픽업지</a:t>
            </a:r>
            <a:r>
              <a:rPr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(Origin) </a:t>
            </a:r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도달</a:t>
            </a:r>
            <a:r>
              <a:rPr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08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가능</a:t>
            </a:r>
            <a:r>
              <a:rPr lang="ko-KR" altLang="en-US" sz="1080" b="0" i="0" dirty="0">
                <a:solidFill>
                  <a:srgbClr val="1A1A1A"/>
                </a:solidFill>
                <a:latin typeface="맑은 고딕"/>
                <a:ea typeface="맑은 고딕"/>
              </a:rPr>
              <a:t>할 것</a:t>
            </a:r>
            <a:endParaRPr sz="1080" b="0" i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" y="3886200"/>
            <a:ext cx="9006840" cy="146304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069080"/>
            <a:ext cx="8412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 err="1">
                <a:solidFill>
                  <a:srgbClr val="1F4E79"/>
                </a:solidFill>
                <a:latin typeface="맑은 고딕"/>
                <a:ea typeface="맑은 고딕"/>
              </a:rPr>
              <a:t>배</a:t>
            </a:r>
            <a:r>
              <a:rPr lang="ko-KR" altLang="en-US" sz="1300" b="1" i="0" dirty="0">
                <a:solidFill>
                  <a:srgbClr val="1F4E79"/>
                </a:solidFill>
                <a:latin typeface="맑은 고딕"/>
                <a:ea typeface="맑은 고딕"/>
              </a:rPr>
              <a:t>차</a:t>
            </a:r>
            <a:r>
              <a:rPr lang="en-US" altLang="ko-KR" sz="1300" b="1" i="0" dirty="0">
                <a:solidFill>
                  <a:srgbClr val="1F4E79"/>
                </a:solidFill>
                <a:latin typeface="맑은 고딕"/>
                <a:ea typeface="맑은 고딕"/>
              </a:rPr>
              <a:t>(JOB ASSIGN)</a:t>
            </a:r>
            <a:r>
              <a:rPr sz="1300" b="1" i="0" dirty="0">
                <a:solidFill>
                  <a:srgbClr val="1F4E79"/>
                </a:solidFill>
                <a:latin typeface="맑은 고딕"/>
                <a:ea typeface="맑은 고딕"/>
              </a:rPr>
              <a:t> </a:t>
            </a:r>
            <a:r>
              <a:rPr sz="1300" b="1" i="0" dirty="0" err="1">
                <a:solidFill>
                  <a:srgbClr val="1F4E79"/>
                </a:solidFill>
                <a:latin typeface="맑은 고딕"/>
                <a:ea typeface="맑은 고딕"/>
              </a:rPr>
              <a:t>판정</a:t>
            </a:r>
            <a:endParaRPr sz="1300" b="1" i="0" dirty="0">
              <a:solidFill>
                <a:srgbClr val="1F4E79"/>
              </a:solidFill>
              <a:latin typeface="맑은 고딕"/>
              <a:ea typeface="맑은 고딕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4434840"/>
            <a:ext cx="8458200" cy="386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스케줄</a:t>
            </a:r>
            <a:r>
              <a:rPr lang="ko-KR" altLang="en-US" sz="1100" dirty="0">
                <a:solidFill>
                  <a:srgbClr val="1A1A1A"/>
                </a:solidFill>
                <a:latin typeface="맑은 고딕"/>
                <a:ea typeface="맑은 고딕"/>
              </a:rPr>
              <a:t>링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시점에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같은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Bay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의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EXCHANGE_QUEUED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가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1" i="0" dirty="0">
                <a:solidFill>
                  <a:srgbClr val="1A1A1A"/>
                </a:solidFill>
                <a:latin typeface="맑은 고딕"/>
                <a:ea typeface="맑은 고딕"/>
              </a:rPr>
              <a:t>2건 </a:t>
            </a:r>
            <a:r>
              <a:rPr sz="110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이상이면</a:t>
            </a:r>
            <a:r>
              <a:rPr sz="1100" b="1" i="0" dirty="0">
                <a:solidFill>
                  <a:srgbClr val="1A1A1A"/>
                </a:solidFill>
                <a:latin typeface="맑은 고딕"/>
                <a:ea typeface="맑은 고딕"/>
              </a:rPr>
              <a:t> 2건을 </a:t>
            </a:r>
            <a:r>
              <a:rPr sz="110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한</a:t>
            </a:r>
            <a:r>
              <a:rPr lang="ko-KR" altLang="en-US" sz="1100" b="1" dirty="0">
                <a:solidFill>
                  <a:srgbClr val="1A1A1A"/>
                </a:solidFill>
                <a:latin typeface="맑은 고딕"/>
                <a:ea typeface="맑은 고딕"/>
              </a:rPr>
              <a:t>번의 반송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으로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, </a:t>
            </a:r>
            <a:r>
              <a:rPr sz="1100" b="1" i="0" dirty="0">
                <a:solidFill>
                  <a:srgbClr val="1A1A1A"/>
                </a:solidFill>
                <a:latin typeface="맑은 고딕"/>
                <a:ea typeface="맑은 고딕"/>
              </a:rPr>
              <a:t>1건뿐이면 </a:t>
            </a:r>
            <a:r>
              <a:rPr sz="110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즉시</a:t>
            </a:r>
            <a:r>
              <a:rPr sz="1100" b="1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맑은 고딕"/>
                <a:ea typeface="맑은 고딕"/>
              </a:rPr>
              <a:t>출발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. 2건째를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기다리지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않는다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. </a:t>
            </a:r>
            <a:r>
              <a:rPr lang="ko-KR" altLang="en-US" sz="1100" dirty="0">
                <a:solidFill>
                  <a:srgbClr val="1A1A1A"/>
                </a:solidFill>
                <a:latin typeface="맑은 고딕"/>
                <a:ea typeface="맑은 고딕"/>
              </a:rPr>
              <a:t>반송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구성은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배차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시점에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확정되며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진행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중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변경·합류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>불가</a:t>
            </a:r>
            <a:r>
              <a:rPr sz="1100" b="0" i="0" dirty="0">
                <a:solidFill>
                  <a:srgbClr val="1A1A1A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37744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맑은 고딕"/>
                <a:ea typeface="맑은 고딕"/>
              </a:rPr>
              <a:t>시나리오 A — 단일 EXCHANGE (슬롯 1·3)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914400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6B74"/>
                </a:solidFill>
                <a:latin typeface="맑은 고딕"/>
                <a:ea typeface="맑은 고딕"/>
              </a:rPr>
              <a:t>EXCHANGECMD 1건 · Origin(IN_BUF_01) → Mid(EQP-X) → Dest(OUT_BUF_01) · 슬롯 2·4 는 전 구간 EMPTY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66B74"/>
                </a:solidFill>
                <a:latin typeface="맑은 고딕"/>
                <a:ea typeface="맑은 고딕"/>
              </a:rPr>
              <a:t>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20700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66B74"/>
                </a:solidFill>
                <a:latin typeface="맑은 고딕"/>
                <a:ea typeface="맑은 고딕"/>
              </a:rPr>
              <a:t>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20700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66B74"/>
                </a:solidFill>
                <a:latin typeface="맑은 고딕"/>
                <a:ea typeface="맑은 고딕"/>
              </a:rPr>
              <a:t>슬롯 1·2·3·4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20700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66B74"/>
                </a:solidFill>
                <a:latin typeface="맑은 고딕"/>
                <a:ea typeface="맑은 고딕"/>
              </a:rPr>
              <a:t>MES 보고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453896"/>
            <a:ext cx="918972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1545336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A0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9961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EXCHANGECMD 수신 → 검증 → TC insert (EXCHANGE_QUEUED)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4990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4788" y="154990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20256" y="154990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35724" y="154990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1499616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  <a:latin typeface="맑은 고딕"/>
                <a:ea typeface="맑은 고딕"/>
              </a:rPr>
              <a:t>RECEIVE (10)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093976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04825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배차: 슬롯 1·3 예약, TRIP 발급 → Origin 이동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0985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E75B6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4788" y="20985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20256" y="20985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35724" y="20985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2048256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  <a:latin typeface="맑은 고딕"/>
                <a:ea typeface="맑은 고딕"/>
              </a:rPr>
              <a:t>START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551176"/>
            <a:ext cx="918972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11480" y="2642615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A2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59689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Origin 픽업: 신규 매거진 → 슬롯 1, 설비로 이동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264718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4788" y="264718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620256" y="264718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35724" y="264718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35240" y="2596896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666B74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191256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A3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14553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설비 도착, ActionCmd 대기 (≤120초)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319582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4788" y="319582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620256" y="319582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35724" y="319582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35240" y="3145536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  <a:latin typeface="맑은 고딕"/>
                <a:ea typeface="맑은 고딕"/>
              </a:rPr>
              <a:t>ARRIVED (20)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3648456"/>
            <a:ext cx="918972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1480" y="3739896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A4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369417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설비 준비신호(UNLOAD) → 기존 취출 → 슬롯 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374446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4788" y="374446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620256" y="374446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35724" y="374446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5240" y="3694176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  <a:latin typeface="맑은 고딕"/>
                <a:ea typeface="맑은 고딕"/>
              </a:rPr>
              <a:t>STEP 30 · Slot 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4288536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A5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424281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설비 준비신호(LOAD) → 슬롯 1 투입 → 해제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89320" y="429310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304788" y="429310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620256" y="429310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35724" y="429310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35240" y="4242816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  <a:latin typeface="맑은 고딕"/>
                <a:ea typeface="맑은 고딕"/>
              </a:rPr>
              <a:t>STEP 40 · Slot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" y="4745736"/>
            <a:ext cx="918972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11480" y="4837176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A6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" y="479145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반납 버퍼로 이동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89320" y="48417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304788" y="48417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620256" y="48417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35724" y="484174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635240" y="4791456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666B74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385816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A7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534009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맑은 고딕"/>
                <a:ea typeface="맑은 고딕"/>
              </a:rPr>
              <a:t>Dest 하치: 슬롯 3 해제 → TC 완료, 차량 IDLE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89320" y="539038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6304788" y="539038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620256" y="539038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935724" y="5390388"/>
            <a:ext cx="274320" cy="274320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35240" y="5340096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  <a:latin typeface="맑은 고딕"/>
                <a:ea typeface="맑은 고딕"/>
              </a:rPr>
              <a:t>STEP 50 → COMPLETE (60)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37744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맑은 고딕"/>
                <a:ea typeface="맑은 고딕"/>
              </a:rPr>
              <a:t>시나리오 B — 2건 배칭 (슬롯 1·3 + 2·4)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914400"/>
            <a:ext cx="92354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EXCHANGE 2건(EX-A: EQP-X, EX-B: EQP-Y)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을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한</a:t>
            </a:r>
            <a:r>
              <a:rPr lang="ko-KR" altLang="en-US"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번의 반송이동 </a:t>
            </a:r>
            <a:r>
              <a:rPr lang="ko-KR" altLang="en-US" sz="1050" dirty="0">
                <a:solidFill>
                  <a:srgbClr val="666B74"/>
                </a:solidFill>
                <a:latin typeface="맑은 고딕"/>
                <a:ea typeface="맑은 고딕"/>
              </a:rPr>
              <a:t>처리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— </a:t>
            </a:r>
            <a:r>
              <a:rPr lang="ko-KR" altLang="en-US" sz="1050" dirty="0">
                <a:solidFill>
                  <a:srgbClr val="666B74"/>
                </a:solidFill>
                <a:latin typeface="맑은 고딕"/>
                <a:ea typeface="맑은 고딕"/>
              </a:rPr>
              <a:t>처리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순서는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</a:t>
            </a:r>
            <a:r>
              <a:rPr sz="1050" b="0" i="0" dirty="0" err="1">
                <a:solidFill>
                  <a:srgbClr val="666B74"/>
                </a:solidFill>
                <a:latin typeface="맑은 고딕"/>
                <a:ea typeface="맑은 고딕"/>
              </a:rPr>
              <a:t>인</a:t>
            </a:r>
            <a:r>
              <a:rPr lang="ko-KR" altLang="en-US"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접한 설비부터</a:t>
            </a:r>
            <a:r>
              <a:rPr sz="1050" b="0" i="0" dirty="0">
                <a:solidFill>
                  <a:srgbClr val="666B74"/>
                </a:solidFill>
                <a:latin typeface="맑은 고딕"/>
                <a:ea typeface="맑은 고딕"/>
              </a:rPr>
              <a:t> </a:t>
            </a:r>
            <a:r>
              <a:rPr lang="ko-KR" altLang="en-US" sz="1050" dirty="0">
                <a:solidFill>
                  <a:srgbClr val="666B74"/>
                </a:solidFill>
                <a:latin typeface="맑은 고딕"/>
                <a:ea typeface="맑은 고딕"/>
              </a:rPr>
              <a:t>진행</a:t>
            </a:r>
            <a:endParaRPr sz="1050" b="0" i="0" dirty="0">
              <a:solidFill>
                <a:srgbClr val="666B74"/>
              </a:solidFill>
              <a:latin typeface="맑은 고딕"/>
              <a:ea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371600" cy="1371600"/>
          </a:xfrm>
          <a:prstGeom prst="roundRect">
            <a:avLst>
              <a:gd name="adj" fmla="val 9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IN_BUF_01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신규A 픽업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00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슬롯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1828800"/>
            <a:ext cx="2468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666B74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0824" y="1325880"/>
            <a:ext cx="1371600" cy="1371600"/>
          </a:xfrm>
          <a:prstGeom prst="roundRect">
            <a:avLst>
              <a:gd name="adj" fmla="val 9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20824" y="1417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IN_BUF_02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1709928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신규B 픽업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23500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슬롯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1828800"/>
            <a:ext cx="2468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666B74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1325880"/>
            <a:ext cx="1371600" cy="13716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1417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EQP-X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1709928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교환 A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취출→투입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3500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3 ← / →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828800"/>
            <a:ext cx="2468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666B74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1325880"/>
            <a:ext cx="1371600" cy="13716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48072" y="1417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EQP-Y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72" y="1709928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교환 B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취출→투입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23500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4 ← / →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1828800"/>
            <a:ext cx="2468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666B74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11696" y="1325880"/>
            <a:ext cx="1371600" cy="1371600"/>
          </a:xfrm>
          <a:prstGeom prst="roundRect">
            <a:avLst>
              <a:gd name="adj" fmla="val 9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11696" y="1417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OUT_BUF_01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1709928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기존A 반납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696" y="23500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슬롯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1828800"/>
            <a:ext cx="2468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666B74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1325880"/>
            <a:ext cx="1371600" cy="1371600"/>
          </a:xfrm>
          <a:prstGeom prst="roundRect">
            <a:avLst>
              <a:gd name="adj" fmla="val 9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1417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OUT_BUF_02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709928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기존B 반납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3500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슬롯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154680"/>
            <a:ext cx="2926080" cy="178308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0080" y="3337560"/>
            <a:ext cx="237744" cy="2377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264" y="331012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동시 보유 최대 3개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730752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1A1A1A"/>
                </a:solidFill>
                <a:latin typeface="맑은 고딕"/>
                <a:ea typeface="맑은 고딕"/>
              </a:rPr>
              <a:t>4개 동시 보유는 발생하지 않음 — 각 설비에서 취출 직후 투입. 피크는 B5, B8 (매거진 3개)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66160" y="3154680"/>
            <a:ext cx="2926080" cy="178308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49039" y="3337560"/>
            <a:ext cx="237744" cy="23774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78224" y="3310128"/>
            <a:ext cx="2331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1A1A1A"/>
                </a:solidFill>
                <a:latin typeface="맑은 고딕"/>
                <a:ea typeface="맑은 고딕"/>
              </a:rPr>
              <a:t>상태 보고</a:t>
            </a:r>
            <a:endParaRPr sz="1200" b="1" i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67328" y="3730752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1A1A1A"/>
                </a:solidFill>
                <a:latin typeface="맑은 고딕"/>
                <a:ea typeface="맑은 고딕"/>
              </a:rPr>
              <a:t>MES 는 EX-A/EX-B 보고를 섞여서 수신 — JobID 로 구분 필수. EX-A COMPLETE 가 먼저 도착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3154680"/>
            <a:ext cx="2926080" cy="178308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858000" y="3337560"/>
            <a:ext cx="237744" cy="237744"/>
          </a:xfrm>
          <a:prstGeom prst="ellipse">
            <a:avLst/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87183" y="331012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ActionCmd 최대 4회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6288" y="3730752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1A1A1A"/>
                </a:solidFill>
                <a:latin typeface="맑은 고딕"/>
                <a:ea typeface="맑은 고딕"/>
              </a:rPr>
              <a:t>설비별 게이팅 독립: EQP-X 2회 + EQP-Y 2회. 각 설비 도착마다 ARRIVED(20) 별도 보고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37744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맑은 고딕"/>
                <a:ea typeface="맑은 고딕"/>
              </a:rPr>
              <a:t>시나리오 B — 슬롯 상태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914400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6B74"/>
                </a:solidFill>
                <a:latin typeface="맑은 고딕"/>
                <a:ea typeface="맑은 고딕"/>
              </a:rPr>
              <a:t>B0·B1: 2건 수신(RECEIVE×2) 후 1트립 배차(START×2) · 슬롯 예약 A=(1,3), B=(2,4)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66B74"/>
                </a:solidFill>
                <a:latin typeface="맑은 고딕"/>
                <a:ea typeface="맑은 고딕"/>
              </a:rPr>
              <a:t>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66B74"/>
                </a:solidFill>
                <a:latin typeface="맑은 고딕"/>
                <a:ea typeface="맑은 고딕"/>
              </a:rPr>
              <a:t>위치 / 동작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18872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66B74"/>
                </a:solidFill>
                <a:latin typeface="맑은 고딕"/>
                <a:ea typeface="맑은 고딕"/>
              </a:rPr>
              <a:t>슬롯 1·2·3·4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18872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66B74"/>
                </a:solidFill>
                <a:latin typeface="맑은 고딕"/>
                <a:ea typeface="맑은 고딕"/>
              </a:rPr>
              <a:t>MES 보고 (JobID)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426464"/>
            <a:ext cx="9189720" cy="4434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1490472"/>
            <a:ext cx="548640" cy="2743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630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IN_BUF_01 — 신규A 픽업 → 슬롯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5041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15041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2E75B6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041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3700" y="15041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4630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 i="0">
                <a:solidFill>
                  <a:srgbClr val="666B74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947672"/>
            <a:ext cx="548640" cy="2743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19202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IN_BUF_02 — 신규B 픽업 → 슬롯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19613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19613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19613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43700" y="19613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19202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0" i="0">
                <a:solidFill>
                  <a:srgbClr val="666B74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340864"/>
            <a:ext cx="9189720" cy="4434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11480" y="2404872"/>
            <a:ext cx="548640" cy="2743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3774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EQP-X 도착 · ActionCmd 대기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24185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9340" y="24185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24185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43700" y="24185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3774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  <a:latin typeface="맑은 고딕"/>
                <a:ea typeface="맑은 고딕"/>
              </a:rPr>
              <a:t>ARRIVED(20) 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2862072"/>
            <a:ext cx="548640" cy="274320"/>
          </a:xfrm>
          <a:prstGeom prst="roundRect">
            <a:avLst>
              <a:gd name="adj" fmla="val 12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28346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  <a:ea typeface="맑은 고딕"/>
              </a:rPr>
              <a:t>EQP-X — OLD-A 취출 → 슬롯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28757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9340" y="28757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28757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43700" y="28757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28346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  <a:latin typeface="맑은 고딕"/>
                <a:ea typeface="맑은 고딕"/>
              </a:rPr>
              <a:t>STEP 30 A · Slot3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3255264"/>
            <a:ext cx="9189720" cy="4434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1480" y="3319272"/>
            <a:ext cx="548640" cy="2743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32918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EQP-X — NEW-A 투입, 슬롯 1 해제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52160" y="33329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49340" y="33329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46520" y="33329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43700" y="33329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32918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  <a:latin typeface="맑은 고딕"/>
                <a:ea typeface="맑은 고딕"/>
              </a:rPr>
              <a:t>STEP 40 A · Slot1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776472"/>
            <a:ext cx="548640" cy="2743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749039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EQP-Y 도착 · ActionCmd 대기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52160" y="3790187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149340" y="3790187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3790187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43700" y="3790187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91E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891E3A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3749039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  <a:latin typeface="맑은 고딕"/>
                <a:ea typeface="맑은 고딕"/>
              </a:rPr>
              <a:t>ARRIVED(20) 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" y="4169663"/>
            <a:ext cx="9189720" cy="4434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11480" y="4233672"/>
            <a:ext cx="548640" cy="274320"/>
          </a:xfrm>
          <a:prstGeom prst="roundRect">
            <a:avLst>
              <a:gd name="adj" fmla="val 12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42062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  <a:ea typeface="맑은 고딕"/>
              </a:rPr>
              <a:t>EQP-Y — OLD-B 취출 → 슬롯 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52160" y="42473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149340" y="42473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46520" y="42473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43700" y="42473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42062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  <a:latin typeface="맑은 고딕"/>
                <a:ea typeface="맑은 고딕"/>
              </a:rPr>
              <a:t>STEP 30 B · Slot4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4690872"/>
            <a:ext cx="548640" cy="2743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" y="46634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EQP-Y — NEW-B 투입, 슬롯 2 해제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852160" y="47045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6149340" y="47045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446520" y="47045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43700" y="47045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6634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  <a:latin typeface="맑은 고딕"/>
                <a:ea typeface="맑은 고딕"/>
              </a:rPr>
              <a:t>STEP 40 B · Slot2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" y="5084064"/>
            <a:ext cx="9189720" cy="4434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411480" y="5148072"/>
            <a:ext cx="548640" cy="2743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8720" y="51206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OUT_BUF_01 — OLD-A 반납, 슬롯 3 해제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852160" y="51617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149340" y="51617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6446520" y="51617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6743700" y="51617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79" y="51206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  <a:latin typeface="맑은 고딕"/>
                <a:ea typeface="맑은 고딕"/>
              </a:rPr>
              <a:t>STEP 50 A → COMPLETE 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5605272"/>
            <a:ext cx="548640" cy="2743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B11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88720" y="55778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  <a:ea typeface="맑은 고딕"/>
              </a:rPr>
              <a:t>OUT_BUF_02 — OLD-B 반납, 트립 종료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852160" y="56189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149340" y="56189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6446520" y="56189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743700" y="5618988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EFF1F4"/>
          </a:solidFill>
          <a:ln w="9525">
            <a:solidFill>
              <a:srgbClr val="C4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79" y="55778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  <a:latin typeface="맑은 고딕"/>
                <a:ea typeface="맑은 고딕"/>
              </a:rPr>
              <a:t>STEP 50 B → COMPLETE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37744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맑은 고딕"/>
                <a:ea typeface="맑은 고딕"/>
              </a:rPr>
              <a:t>예외 시나리오와 슬롯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914400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6B74"/>
                </a:solidFill>
                <a:latin typeface="맑은 고딕"/>
                <a:ea typeface="맑은 고딕"/>
              </a:rPr>
              <a:t>대원칙: 슬롯 상태는 항상 실물을 따른다 — 실물보다 먼저 소프트웨어 상태를 정리하지 않는다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480560" cy="214884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481328"/>
            <a:ext cx="237744" cy="23774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9264" y="1444751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맑은 고딕"/>
                <a:ea typeface="맑은 고딕"/>
              </a:rPr>
              <a:t>첫 이동 실패 (실물 적재 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CARRIERTRANSFER 3회 실패 → 트립 전체 롤백.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TC→EXCHANGE_QUEUED, 슬롯 예약 해제, 차량→IDLE.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실물 이동 전이므로 안전한 유일한 자동 롤백 구간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63239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2E75B6"/>
                </a:solidFill>
                <a:latin typeface="맑은 고딕"/>
                <a:ea typeface="맑은 고딕"/>
              </a:rPr>
              <a:t>슬롯: 전부 EMPTY 복귀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280160"/>
            <a:ext cx="4480560" cy="214884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03520" y="1481328"/>
            <a:ext cx="237744" cy="23774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32704" y="1444751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맑은 고딕"/>
                <a:ea typeface="맑은 고딕"/>
              </a:rPr>
              <a:t>픽업 후 설비 작업 전 실패 — 수동 정리 (확정)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7" y="196596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자동 보상 이동 없음. 에러 보고 + 차량 ALARM →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운영자가 NEW 매거진 수동 회수 후 슬롯 해제.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점유 유지 동안 배차 자동 제외 — 아래와 동일 패턴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7" y="3063239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  <a:latin typeface="맑은 고딕"/>
                <a:ea typeface="맑은 고딕"/>
              </a:rPr>
              <a:t>슬롯: 수동 정리까지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79"/>
            <a:ext cx="4480560" cy="214884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080" y="3813048"/>
            <a:ext cx="237744" cy="237744"/>
          </a:xfrm>
          <a:prstGeom prst="ellipse">
            <a:avLst/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776472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맑은 고딕"/>
                <a:ea typeface="맑은 고딕"/>
              </a:rPr>
              <a:t>취출(30) 후 투입(40) 실패 — 최고 위험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97679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설비는 비고 차량은 NEW+OLD 보유. 자동 롤백 절대 금지.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EXCHANGEFAILED_MANUAL 보고 + 차량 ALARM.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슬롯 OCCUPIED 유지 → 해당 차량 배차 자동 제외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394959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891E3A"/>
                </a:solidFill>
                <a:latin typeface="맑은 고딕"/>
                <a:ea typeface="맑은 고딕"/>
              </a:rPr>
              <a:t>슬롯: 수동 정리까지 유지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611879"/>
            <a:ext cx="4480560" cy="214884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0" y="3813048"/>
            <a:ext cx="237744" cy="237744"/>
          </a:xfrm>
          <a:prstGeom prst="ellipse">
            <a:avLst/>
          </a:prstGeom>
          <a:solidFill>
            <a:srgbClr val="666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32704" y="3776472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맑은 고딕"/>
                <a:ea typeface="맑은 고딕"/>
              </a:rPr>
              <a:t>OPERATOR_ABORT / TS 재기동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4297679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ABORT: 트립 내 TC 정리, 슬롯은 실물 기준 유지(jobId 추적).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재기동: STEP·슬롯 영속 → 자연 재개 + 정합 감사 1회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  <a:ea typeface="맑은 고딕"/>
              </a:rPr>
              <a:t>(STEP ↔ 슬롯 모순 검출 시 WARN)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5394959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66B74"/>
                </a:solidFill>
                <a:latin typeface="맑은 고딕"/>
                <a:ea typeface="맑은 고딕"/>
              </a:rPr>
              <a:t>슬롯: 실물 기준 유지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37744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맑은 고딕"/>
                <a:ea typeface="맑은 고딕"/>
              </a:rPr>
              <a:t>슬롯 운영 불변식 · 확정 이력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914400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6B74"/>
                </a:solidFill>
                <a:latin typeface="맑은 고딕"/>
                <a:ea typeface="맑은 고딕"/>
              </a:rPr>
              <a:t>불변식 = 리뷰·테스트 체크리스트 — 위반 시 회귀로 간주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■ 불변식 (I1~I7)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I1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64208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A1A1A"/>
                </a:solidFill>
                <a:latin typeface="맑은 고딕"/>
                <a:ea typeface="맑은 고딕"/>
              </a:rPr>
              <a:t>투입슬롯(1·2)=NEW 만, 회수슬롯(3·4)=OLD 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76272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I2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A1A1A"/>
                </a:solidFill>
                <a:latin typeface="맑은 고딕"/>
                <a:ea typeface="맑은 고딕"/>
              </a:rPr>
              <a:t>1 EXCHANGE = 투입 1칸 + 회수 1칸 페어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06624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I3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24912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A1A1A"/>
                </a:solidFill>
                <a:latin typeface="맑은 고딕"/>
                <a:ea typeface="맑은 고딕"/>
              </a:rPr>
              <a:t>배차는 4칸 전부 EMPTY 차량에만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36976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I4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55264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A1A1A"/>
                </a:solidFill>
                <a:latin typeface="맑은 고딕"/>
                <a:ea typeface="맑은 고딕"/>
              </a:rPr>
              <a:t>트립 구성은 배차 시점 확정, 진행 중 불변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67328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I5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85615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A1A1A"/>
                </a:solidFill>
                <a:latin typeface="맑은 고딕"/>
                <a:ea typeface="맑은 고딕"/>
              </a:rPr>
              <a:t>슬롯 해제는 실물 하차 확인 시점에만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I6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15968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A1A1A"/>
                </a:solidFill>
                <a:latin typeface="맑은 고딕"/>
                <a:ea typeface="맑은 고딕"/>
              </a:rPr>
              <a:t>슬롯 전이는 SlotManager 단일 진입점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28031"/>
            <a:ext cx="457200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I7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46319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A1A1A"/>
                </a:solidFill>
                <a:latin typeface="맑은 고딕"/>
                <a:ea typeface="맑은 고딕"/>
              </a:rPr>
              <a:t>동시 보유: 단일 최대 2개 / 배칭 최대 3개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2344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■ 확정 이력 — 전 항목 확정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1645920"/>
            <a:ext cx="4206240" cy="2468880"/>
          </a:xfrm>
          <a:prstGeom prst="roundRect">
            <a:avLst>
              <a:gd name="adj" fmla="val 7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0" y="1828800"/>
            <a:ext cx="37947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>✓ 반송 순서 — 설비 먼저, 반납 나중 (2026-07-22 확정)</a:t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endParaRPr sz="1019" b="0" i="0" dirty="0">
              <a:solidFill>
                <a:srgbClr val="1A1A1A"/>
              </a:solidFill>
              <a:latin typeface="맑은 고딕"/>
              <a:ea typeface="맑은 고딕"/>
            </a:endParaRPr>
          </a:p>
          <a:p>
            <a:pPr algn="l">
              <a:lnSpc>
                <a:spcPct val="130000"/>
              </a:lnSpc>
            </a:pP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>    (동시 보유 최대 3개 허용, 반송 거리 최소화 우선)</a:t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>✓ 슬롯 지정 — ACS 자동배정 (2026-07-22 확정)</a:t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endParaRPr sz="1019" b="0" i="0" dirty="0">
              <a:solidFill>
                <a:srgbClr val="1A1A1A"/>
              </a:solidFill>
              <a:latin typeface="맑은 고딕"/>
              <a:ea typeface="맑은 고딕"/>
            </a:endParaRPr>
          </a:p>
          <a:p>
            <a:pPr algn="l">
              <a:lnSpc>
                <a:spcPct val="130000"/>
              </a:lnSpc>
            </a:pP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>✓ 설비 준비신호 — 기존 ACTIONCMD 재사용 (2026-07-22 확정, TBD 해소)</a:t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 err="1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  <a:r>
              <a:rPr sz="1019" b="0" i="0" dirty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4251960"/>
            <a:ext cx="4206240" cy="77724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0" y="440740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F4E79"/>
                </a:solidFill>
                <a:latin typeface="맑은 고딕"/>
                <a:ea typeface="맑은 고딕"/>
              </a:rPr>
              <a:t>확정  </a:t>
            </a:r>
            <a:r>
              <a:rPr sz="1019" b="0" i="0">
                <a:solidFill>
                  <a:srgbClr val="1A1A1A"/>
                </a:solidFill>
                <a:latin typeface="맑은 고딕"/>
                <a:ea typeface="맑은 고딕"/>
              </a:rPr>
              <a:t>픽업 후 실패 처리 → 수동 정리 (2026-07-20)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B74"/>
                </a:solidFill>
                <a:latin typeface="맑은 고딕"/>
                <a:ea typeface="맑은 고딕"/>
              </a:rPr>
              <a:t>참조: EXCHANGE_통신_인터페이스_사양서 · ACS_EXCHANGE_구현사양서(§2.3, §4.7, §4.10, §4.14)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9235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A1A1A"/>
                </a:solidFill>
                <a:latin typeface="맑은 고딕"/>
                <a:ea typeface="맑은 고딕"/>
              </a:rPr>
              <a:t>Abnormal Case — Source 매거진 없음 (MAGAZINE_NOT_FOUND)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914400"/>
            <a:ext cx="923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66B74"/>
                </a:solidFill>
                <a:latin typeface="맑은 고딕"/>
                <a:ea typeface="맑은 고딕"/>
              </a:rPr>
              <a:t>픽업 위치에 매거진이 없는 경우: 오류·수동 초기화 대신 자동 보고 후 즉시 COMPLETE 종결 (2026-07-24 확정)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21408" cy="9601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9343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Origin 도착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픽업 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1176" y="1609343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66B74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3" y="1280160"/>
            <a:ext cx="2121408" cy="960120"/>
          </a:xfrm>
          <a:prstGeom prst="roundRect">
            <a:avLst>
              <a:gd name="adj" fmla="val 10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1" y="13716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063" y="1609343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매거진 없음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39" y="1609343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66B74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7" y="1280160"/>
            <a:ext cx="2121408" cy="960120"/>
          </a:xfrm>
          <a:prstGeom prst="roundRect">
            <a:avLst>
              <a:gd name="adj" fmla="val 10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5" y="13716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7" y="1609343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JOBREPORT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COMPLETE+오류코드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3" y="1609343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66B74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9792" y="1280160"/>
            <a:ext cx="2121408" cy="9601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13716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1609343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Job 즉시 종결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슬롯 해제·차량 IDLE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14600"/>
            <a:ext cx="4709160" cy="306324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700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맑은 고딕"/>
                <a:ea typeface="맑은 고딕"/>
              </a:rPr>
              <a:t>처리 규칙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999232"/>
            <a:ext cx="4297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1A1A1A"/>
                </a:solidFill>
                <a:latin typeface="맑은 고딕"/>
                <a:ea typeface="맑은 고딕"/>
              </a:rPr>
              <a:t>실물 적재 전 → 슬롯 예약 전체 해제, 차량 IDLE 복귀 (안전 구간)</a:t>
            </a:r>
          </a:p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1A1A1A"/>
                </a:solidFill>
                <a:latin typeface="맑은 고딕"/>
                <a:ea typeface="맑은 고딕"/>
              </a:rPr>
              <a:t>MES 에 JOBREPORT COMPLETE + ErrorCode=MAGAZINE_NOT_FOUND 통보</a:t>
            </a:r>
          </a:p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1A1A1A"/>
                </a:solidFill>
                <a:latin typeface="맑은 고딕"/>
                <a:ea typeface="맑은 고딕"/>
              </a:rPr>
              <a:t>TC 는 오류 COMPLETE 로 즉시 종결 — 이력 이관 후 정리 (PENDING·재시도 없음)</a:t>
            </a:r>
          </a:p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1A1A1A"/>
                </a:solidFill>
                <a:latin typeface="맑은 고딕"/>
                <a:ea typeface="맑은 고딕"/>
              </a:rPr>
              <a:t>ACS 내부 재시도 없음 — 매거진 보충 후 재교체는 MES 가 새 EXCHANGECMD 로 재요청</a:t>
            </a:r>
          </a:p>
          <a:p>
            <a:pPr algn="l">
              <a:lnSpc>
                <a:spcPct val="128000"/>
              </a:lnSpc>
            </a:pPr>
            <a:r>
              <a:rPr sz="980" b="0" i="0">
                <a:solidFill>
                  <a:srgbClr val="1A1A1A"/>
                </a:solidFill>
                <a:latin typeface="맑은 고딕"/>
                <a:ea typeface="맑은 고딕"/>
              </a:rPr>
              <a:t>차량·슬롯이 즉시 반환되어 다음 Job 배차 가능 (반송 자원 점유 최소화)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526280"/>
            <a:ext cx="4315968" cy="914400"/>
          </a:xfrm>
          <a:prstGeom prst="roundRect">
            <a:avLst>
              <a:gd name="adj" fmla="val 8000"/>
            </a:avLst>
          </a:prstGeom>
          <a:solidFill>
            <a:srgbClr val="F6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626864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80" b="1" i="0">
                <a:solidFill>
                  <a:srgbClr val="891E3A"/>
                </a:solidFill>
                <a:latin typeface="맑은 고딕"/>
                <a:ea typeface="맑은 고딕"/>
              </a:rPr>
              <a:t>AS-IS  </a:t>
            </a:r>
            <a:r>
              <a:rPr sz="980" b="0" i="0">
                <a:solidFill>
                  <a:srgbClr val="1A1A1A"/>
                </a:solidFill>
                <a:latin typeface="맑은 고딕"/>
                <a:ea typeface="맑은 고딕"/>
              </a:rPr>
              <a:t>오류 → 운영자 OPERATION ABORT → Job·AMR 전체 초기화</a:t>
            </a:r>
          </a:p>
          <a:p>
            <a:pPr algn="l">
              <a:lnSpc>
                <a:spcPct val="135000"/>
              </a:lnSpc>
            </a:pPr>
            <a:r>
              <a:rPr sz="980" b="1" i="0">
                <a:solidFill>
                  <a:srgbClr val="1F4E79"/>
                </a:solidFill>
                <a:latin typeface="맑은 고딕"/>
                <a:ea typeface="맑은 고딕"/>
              </a:rPr>
              <a:t>TO-BE  </a:t>
            </a:r>
            <a:r>
              <a:rPr sz="980" b="0" i="0">
                <a:solidFill>
                  <a:srgbClr val="1A1A1A"/>
                </a:solidFill>
                <a:latin typeface="맑은 고딕"/>
                <a:ea typeface="맑은 고딕"/>
              </a:rPr>
              <a:t>자동 보고 후 즉시 종결 — 운영자 개입 불요, 재요청은 MES 판단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2514600"/>
            <a:ext cx="4160520" cy="3063240"/>
          </a:xfrm>
          <a:prstGeom prst="roundRect">
            <a:avLst>
              <a:gd name="adj" fmla="val 6000"/>
            </a:avLst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265176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D3FF"/>
                </a:solidFill>
                <a:latin typeface="맑은 고딕"/>
                <a:ea typeface="맑은 고딕"/>
              </a:rPr>
              <a:t>JOBREPORT (ACS → MES)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017520"/>
            <a:ext cx="3886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E8EAF0"/>
                </a:solidFill>
                <a:latin typeface="Courier New"/>
                <a:ea typeface="맑은 고딕"/>
              </a:rPr>
              <a:t>&lt;DataLayer&gt;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E8EAF0"/>
                </a:solidFill>
                <a:latin typeface="Courier New"/>
                <a:ea typeface="맑은 고딕"/>
              </a:rPr>
              <a:t>  &lt;Type&gt;COMPLETE&lt;/Type&gt;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E8EAF0"/>
                </a:solidFill>
                <a:latin typeface="Courier New"/>
                <a:ea typeface="맑은 고딕"/>
              </a:rPr>
              <a:t>  &lt;ActionType&gt;EXCHANGE&lt;/ActionType&gt;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E8EAF0"/>
                </a:solidFill>
                <a:latin typeface="Courier New"/>
                <a:ea typeface="맑은 고딕"/>
              </a:rPr>
              <a:t>  &lt;JobID&gt;ACS_JOB_ID&lt;/JobID&gt;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E8EAF0"/>
                </a:solidFill>
                <a:latin typeface="Courier New"/>
                <a:ea typeface="맑은 고딕"/>
              </a:rPr>
              <a:t>  &lt;ErrorCode&gt;MAGAZINE_NOT_FOUND&lt;/ErrorCode&gt;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E8EAF0"/>
                </a:solidFill>
                <a:latin typeface="Courier New"/>
                <a:ea typeface="맑은 고딕"/>
              </a:rPr>
              <a:t>  &lt;ErrorMsg&gt;No magazine found at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E8EAF0"/>
                </a:solidFill>
                <a:latin typeface="Courier New"/>
                <a:ea typeface="맑은 고딕"/>
              </a:rPr>
              <a:t>     LoadSourceLoc candidates&lt;/ErrorMsg&gt;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E8EAF0"/>
                </a:solidFill>
                <a:latin typeface="Courier New"/>
                <a:ea typeface="맑은 고딕"/>
              </a:rPr>
              <a:t>&lt;/DataLayer&gt;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42432"/>
            <a:ext cx="9052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66B74"/>
                </a:solidFill>
                <a:latin typeface="맑은 고딕"/>
                <a:ea typeface="맑은 고딕"/>
              </a:rPr>
              <a:t>연계: MES/IF 는 COMPLETE 오류 수신 시 설비에 EXCHANGE_FAILED 통지 → 설비는 새 ExchangeJobID 로 재시작(설비 연동 사양서 §정책) — ACS 즉시 종결과 정합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37744"/>
            <a:ext cx="8778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맑은 고딕"/>
                <a:ea typeface="맑은 고딕"/>
              </a:rPr>
              <a:t>부록 — EXCHANGECMD 통신 메시지 사양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914400"/>
            <a:ext cx="923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66B74"/>
                </a:solidFill>
                <a:latin typeface="맑은 고딕"/>
                <a:ea typeface="맑은 고딕"/>
              </a:rPr>
              <a:t>MES(IF) → ACS · XML/MSB · JobID = 전 구간 상관키 · 슬롯 필드는 공백 허용(ACS 자동배정, D10)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4846320" cy="443484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DataLayer 필드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JobID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719072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ACS 기준 Exchange Job ID (상관키)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71115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EquipID / 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71115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대상 설비 IP · LEFT|RIGHT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2315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423159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매거진 모델 (예: CF203W)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75203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LoadEquipJobID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775203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설비 LOAD 보고용 JobID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27247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UnloadEquipJobID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127247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설비 UNLOAD 보고용 JobID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479291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LoadSourceLoc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479291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신규 매거진 픽업 위치 (IN_BUF_xx)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31335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UnloadDestLoc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831335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기존 매거진 반납 위치 (OUT_BUF_xx)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8337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LoadCarrierSlot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183379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공백 — ACS 자동배정 (투입 1|2)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535423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UnloadCarrierSlot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535423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공백 — ACS 자동배정 (회수 3|4)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87467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MaterialType / ActionType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887467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MAGAZINE · EXCHANGE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239511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1" i="0">
                <a:solidFill>
                  <a:srgbClr val="1F4E79"/>
                </a:solidFill>
                <a:latin typeface="맑은 고딕"/>
                <a:ea typeface="맑은 고딕"/>
              </a:rPr>
              <a:t>AcsId / UserID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5239511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1A1A1A"/>
                </a:solidFill>
                <a:latin typeface="맑은 고딕"/>
                <a:ea typeface="맑은 고딕"/>
              </a:rPr>
              <a:t>ACS01 · MES01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1234440"/>
            <a:ext cx="4023360" cy="4434840"/>
          </a:xfrm>
          <a:prstGeom prst="roundRect">
            <a:avLst>
              <a:gd name="adj" fmla="val 6000"/>
            </a:avLst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13533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D3FF"/>
                </a:solidFill>
                <a:latin typeface="맑은 고딕"/>
                <a:ea typeface="맑은 고딕"/>
              </a:rPr>
              <a:t>EXCHANGECMD XML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1682496"/>
            <a:ext cx="3703320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&lt;Msg&gt;&lt;Command&gt;EXCHANGECMD&lt;/Command&gt;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&lt;Header&gt;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&lt;DestSubject&gt;/HQ/ACS01&lt;/DestSubject&gt;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&lt;ReplySubject&gt;/HQ/MES01&lt;/ReplySubject&gt;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&lt;/Header&gt;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&lt;DataLayer&gt;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&lt;AcsId&gt;ACS01&lt;/AcsId&gt;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&lt;JobID&gt;EX20260716083000123&lt;/JobID&gt;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&lt;EquipID&gt;192.168.32.36&lt;/EquipID&gt;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&lt;Port&gt;RIGHT&lt;/Port&gt;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&lt;Model&gt;CF203W&lt;/Model&gt;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&lt;LoadEquipJobID&gt;PRD-.._LOAD_..&lt;/LoadEquipJobID&gt;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&lt;UnloadEquipJobID&gt;PRD-.._UNLOAD_..&lt;/UnloadEquipJobID&gt;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&lt;LoadSourceLoc&gt;IN_BUF_01&lt;/LoadSourceLoc&gt;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&lt;UnloadDestLoc&gt;OUT_BUF_01&lt;/UnloadDestLoc&gt;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&lt;LoadCarrierSlot/&gt;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&lt;UnloadCarrierSlot/&gt;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&lt;MaterialType&gt;MAGAZINE&lt;/MaterialType&gt;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&lt;ActionType&gt;EXCHANGE&lt;/ActionType&gt;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 &lt;UserID&gt;MES01&lt;/UserID&gt;</a:t>
            </a:r>
          </a:p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E8EAF0"/>
                </a:solidFill>
                <a:latin typeface="Courier New"/>
                <a:ea typeface="맑은 고딕"/>
              </a:rPr>
              <a:t> &lt;/DataLayer&gt;&lt;/Msg&gt;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790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66B74"/>
                </a:solidFill>
                <a:latin typeface="맑은 고딕"/>
                <a:ea typeface="맑은 고딕"/>
              </a:rPr>
              <a:t>JOBREPORT ↔ 설비 REPORT: 10→EXCHANGE_REQUEST_REPORT · 20→EXCHANGE_READY_REPORT · 30→UNLOAD_COMPLETED · 40→LOAD_COMPLETED · 60→EXCHANGE_COMPLETED · 오류→EXCHANGE_STEP_FAILED/FAILED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9235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1A1A1A"/>
                </a:solidFill>
                <a:latin typeface="맑은 고딕"/>
                <a:ea typeface="맑은 고딕"/>
              </a:rPr>
              <a:t>JOBCANCEL — 반송 취소 처리 (EXCHANGE·일반 MOVECMD 공통)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914400"/>
            <a:ext cx="923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66B74"/>
                </a:solidFill>
                <a:latin typeface="맑은 고딕"/>
                <a:ea typeface="맑은 고딕"/>
              </a:rPr>
              <a:t>MES → ACS JOBCANCEL(기존 XML 포맷) · 픽업 전=즉시 취소, 적재 후=충전소 복귀·Job 삭제·알람 — 모든 반송 Job 공통 (2026-07-28 확정)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806440" cy="43434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E1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  <a:ea typeface="맑은 고딕"/>
              </a:rPr>
              <a:t>취소 판정 매트릭스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475488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76479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A1A1A"/>
                </a:solidFill>
                <a:latin typeface="맑은 고딕"/>
                <a:ea typeface="맑은 고딕"/>
              </a:rPr>
              <a:t>배차 전 — QUEUED / EXCHANGE_QUEUED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0208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A1A1A"/>
                </a:solidFill>
                <a:latin typeface="맑은 고딕"/>
                <a:ea typeface="맑은 고딕"/>
              </a:rPr>
              <a:t>즉시 취소 · CANCELED·이력 이관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02082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  <a:latin typeface="맑은 고딕"/>
                <a:ea typeface="맑은 고딕"/>
              </a:rPr>
              <a:t>CANCEL (0)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23160"/>
            <a:ext cx="475488" cy="292608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40487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A1A1A"/>
                </a:solidFill>
                <a:latin typeface="맑은 고딕"/>
                <a:ea typeface="맑은 고딕"/>
              </a:rPr>
              <a:t>픽업 전 — ASSIGNED (이동 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66090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A1A1A"/>
                </a:solidFill>
                <a:latin typeface="맑은 고딕"/>
                <a:ea typeface="맑은 고딕"/>
              </a:rPr>
              <a:t>즉시 취소 · 반송 중지·(슬롯)예약 해제·차량 IDLE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66090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  <a:latin typeface="맑은 고딕"/>
                <a:ea typeface="맑은 고딕"/>
              </a:rPr>
              <a:t>CANCEL 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63239"/>
            <a:ext cx="475488" cy="292608"/>
          </a:xfrm>
          <a:prstGeom prst="roundRect">
            <a:avLst>
              <a:gd name="adj" fmla="val 12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044951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A1A1A"/>
                </a:solidFill>
                <a:latin typeface="맑은 고딕"/>
                <a:ea typeface="맑은 고딕"/>
              </a:rPr>
              <a:t>적재 후 전 구간 — 캐리어/매거진 보유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00983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A1A1A"/>
                </a:solidFill>
                <a:latin typeface="맑은 고딕"/>
                <a:ea typeface="맑은 고딕"/>
              </a:rPr>
              <a:t>충전소 복귀 + Job 삭제(이력 이관) + 차량 ALARM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3300983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891E3A"/>
                </a:solidFill>
                <a:latin typeface="맑은 고딕"/>
                <a:ea typeface="맑은 고딕"/>
              </a:rPr>
              <a:t>CANCEL (0)+알람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03320"/>
            <a:ext cx="475488" cy="292608"/>
          </a:xfrm>
          <a:prstGeom prst="roundRect">
            <a:avLst>
              <a:gd name="adj" fmla="val 12000"/>
            </a:avLst>
          </a:prstGeom>
          <a:solidFill>
            <a:srgbClr val="666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68503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A1A1A"/>
                </a:solidFill>
                <a:latin typeface="맑은 고딕"/>
                <a:ea typeface="맑은 고딕"/>
              </a:rPr>
              <a:t>COMPLETED / CANCELED — 종료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941063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A1A1A"/>
                </a:solidFill>
                <a:latin typeface="맑은 고딕"/>
                <a:ea typeface="맑은 고딕"/>
              </a:rPr>
              <a:t>거부 (terminal state)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941063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666B74"/>
                </a:solidFill>
                <a:latin typeface="맑은 고딕"/>
                <a:ea typeface="맑은 고딕"/>
              </a:rPr>
              <a:t>NACK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343400"/>
            <a:ext cx="475488" cy="292608"/>
          </a:xfrm>
          <a:prstGeom prst="roundRect">
            <a:avLst>
              <a:gd name="adj" fmla="val 12000"/>
            </a:avLst>
          </a:prstGeom>
          <a:solidFill>
            <a:srgbClr val="89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32511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1A1A1A"/>
                </a:solidFill>
                <a:latin typeface="맑은 고딕"/>
                <a:ea typeface="맑은 고딕"/>
              </a:rPr>
              <a:t>[EXCHANGE] 배칭 중 1건 취소 (적재 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5811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1A1A1A"/>
                </a:solidFill>
                <a:latin typeface="맑은 고딕"/>
                <a:ea typeface="맑은 고딕"/>
              </a:rPr>
              <a:t>차량 공유로 반송 전체 중단 — 페어 Job 도 종결 통보 후 복귀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58114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>
                <a:solidFill>
                  <a:srgbClr val="891E3A"/>
                </a:solidFill>
                <a:latin typeface="맑은 고딕"/>
                <a:ea typeface="맑은 고딕"/>
              </a:rPr>
              <a:t>개별 통보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280160"/>
            <a:ext cx="3063240" cy="2286000"/>
          </a:xfrm>
          <a:prstGeom prst="roundRect">
            <a:avLst>
              <a:gd name="adj" fmla="val 6000"/>
            </a:avLst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39903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FD3FF"/>
                </a:solidFill>
                <a:latin typeface="맑은 고딕"/>
                <a:ea typeface="맑은 고딕"/>
              </a:rPr>
              <a:t>JOBCANCEL (MES → ACS)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719072"/>
            <a:ext cx="274320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AF0"/>
                </a:solidFill>
                <a:latin typeface="Courier New"/>
                <a:ea typeface="맑은 고딕"/>
              </a:rPr>
              <a:t>&lt;Msg&gt;</a:t>
            </a:r>
          </a:p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AF0"/>
                </a:solidFill>
                <a:latin typeface="Courier New"/>
                <a:ea typeface="맑은 고딕"/>
              </a:rPr>
              <a:t> &lt;Command&gt;JOBCANCEL&lt;/Command&gt;</a:t>
            </a:r>
          </a:p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AF0"/>
                </a:solidFill>
                <a:latin typeface="Courier New"/>
                <a:ea typeface="맑은 고딕"/>
              </a:rPr>
              <a:t> &lt;DataLayer&gt;</a:t>
            </a:r>
          </a:p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AF0"/>
                </a:solidFill>
                <a:latin typeface="Courier New"/>
                <a:ea typeface="맑은 고딕"/>
              </a:rPr>
              <a:t>  &lt;AcsId&gt;ACS01&lt;/AcsId&gt;</a:t>
            </a:r>
          </a:p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AF0"/>
                </a:solidFill>
                <a:latin typeface="Courier New"/>
                <a:ea typeface="맑은 고딕"/>
              </a:rPr>
              <a:t>  &lt;JobID&gt;EX2026..123&lt;/JobID&gt;</a:t>
            </a:r>
          </a:p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AF0"/>
                </a:solidFill>
                <a:latin typeface="Courier New"/>
                <a:ea typeface="맑은 고딕"/>
              </a:rPr>
              <a:t>  &lt;UserID&gt;MES01&lt;/UserID&gt;</a:t>
            </a:r>
          </a:p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AF0"/>
                </a:solidFill>
                <a:latin typeface="Courier New"/>
                <a:ea typeface="맑은 고딕"/>
              </a:rPr>
              <a:t> &lt;/DataLayer&gt;</a:t>
            </a:r>
          </a:p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E8EAF0"/>
                </a:solidFill>
                <a:latin typeface="Courier New"/>
                <a:ea typeface="맑은 고딕"/>
              </a:rPr>
              <a:t>&lt;/Msg&gt;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703320"/>
            <a:ext cx="3063240" cy="1920240"/>
          </a:xfrm>
          <a:prstGeom prst="roundRect">
            <a:avLst>
              <a:gd name="adj" fmla="val 8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맑은 고딕"/>
                <a:ea typeface="맑은 고딕"/>
              </a:rPr>
              <a:t>응답 (JOBREPORT)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16052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1A1A1A"/>
                </a:solidFill>
                <a:latin typeface="맑은 고딕"/>
                <a:ea typeface="맑은 고딕"/>
              </a:rPr>
              <a:t>승인: Type=CANCEL, ErrorCode=0</a:t>
            </a:r>
          </a:p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1A1A1A"/>
                </a:solidFill>
                <a:latin typeface="맑은 고딕"/>
                <a:ea typeface="맑은 고딕"/>
              </a:rPr>
              <a:t>거부(C4): CANCEL_REJECTED</a:t>
            </a:r>
          </a:p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1A1A1A"/>
                </a:solidFill>
                <a:latin typeface="맑은 고딕"/>
                <a:ea typeface="맑은 고딕"/>
              </a:rPr>
              <a:t>적재 판정: EXCHANGE=슬롯 점유,</a:t>
            </a:r>
          </a:p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1A1A1A"/>
                </a:solidFill>
                <a:latin typeface="맑은 고딕"/>
                <a:ea typeface="맑은 고딕"/>
              </a:rPr>
              <a:t>MOVECMD=차량 FullState=FULL</a:t>
            </a:r>
          </a:p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1A1A1A"/>
                </a:solidFill>
                <a:latin typeface="맑은 고딕"/>
                <a:ea typeface="맑은 고딕"/>
              </a:rPr>
              <a:t>C3 조치: 실물 회수→(슬롯)해제</a:t>
            </a:r>
          </a:p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1A1A1A"/>
                </a:solidFill>
                <a:latin typeface="맑은 고딕"/>
                <a:ea typeface="맑은 고딕"/>
              </a:rPr>
              <a:t>→알람 해제→운행 복귀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790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1">
                <a:solidFill>
                  <a:srgbClr val="666B74"/>
                </a:solidFill>
                <a:latin typeface="맑은 고딕"/>
                <a:ea typeface="맑은 고딕"/>
              </a:rPr>
              <a:t>공통 적용: 기존 CancelTransportCommandActivity(무조건 CANCELED)를 본 판정 로직으로 대체 — 기존 코드 무수정 원칙(D4)의 승인된 예외 · 충전소 복귀는 CHARGEMOVE 재사용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회사 소개서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52509</TotalTime>
  <Words>1254</Words>
  <Application>Microsoft Macintosh PowerPoint</Application>
  <PresentationFormat>A4 용지(210x297mm)</PresentationFormat>
  <Paragraphs>232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Calibri Light</vt:lpstr>
      <vt:lpstr>회사 소개서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김선미</dc:creator>
  <cp:lastModifiedBy>성곤 김</cp:lastModifiedBy>
  <cp:revision>644</cp:revision>
  <dcterms:created xsi:type="dcterms:W3CDTF">2024-12-18T02:03:32Z</dcterms:created>
  <dcterms:modified xsi:type="dcterms:W3CDTF">2026-07-22T02:16:08Z</dcterms:modified>
</cp:coreProperties>
</file>